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BA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Repeat Buyer</c:v>
                  </c:pt>
                  <c:pt idx="1">
                    <c:v>High-Value Loyal</c:v>
                  </c:pt>
                  <c:pt idx="2">
                    <c:v>Low-Value One-Timer</c:v>
                  </c:pt>
                  <c:pt idx="3">
                    <c:v>At Risk / Lapsed</c:v>
                  </c:pt>
                  <c:pt idx="4">
                    <c:v>High-Value One-Timer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</c:v>
                </c:pt>
                <c:pt idx="1">
                  <c:v>1.21</c:v>
                </c:pt>
                <c:pt idx="2">
                  <c:v>1.24</c:v>
                </c:pt>
                <c:pt idx="3">
                  <c:v>1.22</c:v>
                </c:pt>
                <c:pt idx="4">
                  <c:v>9.86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12700" cap="flat">
              <a:solidFill>
                <a:srgbClr val="D8D7D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Revenue (₹ Cr)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Data Story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ApexPlanet Sales Data Story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transactions to a validated growth recommendation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 ·  Task 4: Data Storytelling &amp; Statistical Validation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052560" y="4114800"/>
            <a:ext cx="365760" cy="731520"/>
          </a:xfrm>
          <a:prstGeom prst="roundRect">
            <a:avLst>
              <a:gd name="adj" fmla="val 15000"/>
            </a:avLst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82912" y="3566160"/>
            <a:ext cx="365760" cy="1280160"/>
          </a:xfrm>
          <a:prstGeom prst="roundRect">
            <a:avLst>
              <a:gd name="adj" fmla="val 15000"/>
            </a:avLst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13264" y="3840480"/>
            <a:ext cx="365760" cy="1005840"/>
          </a:xfrm>
          <a:prstGeom prst="roundRect">
            <a:avLst>
              <a:gd name="adj" fmla="val 15000"/>
            </a:avLst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43616" y="3108960"/>
            <a:ext cx="365760" cy="1737360"/>
          </a:xfrm>
          <a:prstGeom prst="roundRect">
            <a:avLst>
              <a:gd name="adj" fmla="val 15000"/>
            </a:avLst>
          </a:prstGeom>
          <a:solidFill>
            <a:srgbClr val="CADCFC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73968" y="2651760"/>
            <a:ext cx="365760" cy="219456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 of revenue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comes from just </a:t>
            </a:r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427 customers (45% of the base)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every one of them bought only once.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615184" cy="269748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34198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9319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Started with raw 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43484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transactions, undocumented and unverified — cleaned and structured first.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3063240"/>
            <a:ext cx="2615184" cy="269748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3593592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34198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39319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a concentration pattern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443484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identifiable customer segment drives most of the revenue.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3063240"/>
            <a:ext cx="2615184" cy="269748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9944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41985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9944" y="39319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Proved it statistically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9944" y="443484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test confirms the pattern is real, not a sampling artifact.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97696" y="3063240"/>
            <a:ext cx="2615184" cy="269748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6296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341985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26296" y="39319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 specific action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26296" y="443484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win-back initiative aimed at this exact segment.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had one year of raw sales transaction data — 1,000 orders — and no prior analysis of it. The goal: turn that raw data into a reliable understanding of where revenue comes from, and a specific, evidence-backed recommendation for what to do about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3799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12 fields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947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837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₹13.94 Cr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5294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1 year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underneath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8562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values — filled with the dataset median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2743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City values — filled with an honest “Unknown” label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3657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685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sharing one duplicate Order ID — reassigned, no data lost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4572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3504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5994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IDs linked to more than one name — flagged, not guessed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Analysis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each building on the last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 w="12700">
            <a:solidFill>
              <a:srgbClr val="D8D7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80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Structure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947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missing values, duplicate IDs, and inconsistencies into one analysis-ready dataset.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64992" y="169164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8D7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06824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194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64992" y="2880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2004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Query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93592" y="37947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stats, SQL business questions, and correlation analysis surfaced a right-skewed revenue pattern.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81344" y="169164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 w="12700">
            <a:solidFill>
              <a:srgbClr val="D8D7D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23176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194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81344" y="2880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364224" y="32004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KPIs &amp; Segment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09944" y="37947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5.5% repeat-purchase rate redirected the analysis toward RFM customer segmentation.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97696" y="169164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8D7D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939528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21945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97696" y="2880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180576" y="32004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Tell the Story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226296" y="3794760"/>
            <a:ext cx="2157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test confirmed the segmentation finding; results compiled into this narrative.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KPIs — and the Turning Point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502152" y="15544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163677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₹1,39,399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96912" y="15544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6367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194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1091672" y="15544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16367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₹1,47,201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194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200400"/>
            <a:ext cx="11064240" cy="26060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3520440"/>
            <a:ext cx="548640" cy="548640"/>
          </a:xfrm>
          <a:prstGeom prst="ellipse">
            <a:avLst/>
          </a:prstGeom>
          <a:solidFill>
            <a:srgbClr val="EDA1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576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34564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that reframed the project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600200" y="39319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5.5% of customers — 52 of 947 — ever placed a second order. That ruled out cohort/retention analysis for lack of returning customers to study, and redirected the work toward a different question: if customers mostly don’t come back, which one-time customers matter most? That question led directly to segmenting customers by Recency, Frequency, and Monetary value (RFM).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Finding: Revenue Is Concentrated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64922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371600"/>
            <a:ext cx="4389120" cy="50749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498080" y="17373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68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3337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427 customers — 45% of the customer base — the High-Value One-Timer segment. More than every repeat and loyal customer combined.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5074920"/>
            <a:ext cx="3840480" cy="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5257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placed a single large order and never returned — segmented using Recency, Frequency &amp; Monetary (RFM) scoring.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Real, or Just Noise?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of the segmentation finding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One-Timer AOV = AOV of all other customers.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(Alt):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One-Timer AOV is GREATER than the AOV of all other customers.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615184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0175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29.22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3872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67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Welch’s two-sample t-test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2880360"/>
            <a:ext cx="2615184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2152" y="30175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0.0001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53872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(one-tailed)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867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the 0.05 threshold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880360"/>
            <a:ext cx="2615184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18504" y="30175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353872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Cohen’s 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3867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“large” effect (d &gt; 0.8)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97696" y="2880360"/>
            <a:ext cx="2615184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34856" y="30175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₹1.49–1.70 L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134856" y="353872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on the gap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386791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difference, in rupees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9F2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974336"/>
            <a:ext cx="512064" cy="512064"/>
          </a:xfrm>
          <a:prstGeom prst="ellipse">
            <a:avLst/>
          </a:prstGeom>
          <a:solidFill>
            <a:srgbClr val="1BAF7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5102352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508760" y="4892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 hypothesis is rejected. The spending gap did not arise by chance — and with Cohen’s d = 1.94, it is large enough to matter in practice, not just “significant” on paper.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973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802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concentrated, not distributed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148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defined, identifiable 45% of customers drive 71% of revenue — and this is statistically confirmed, not a pattern that could be chance.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6347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8176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20240" y="34290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retention problem, not a demand problem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920240" y="38862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customers have already proven they will spend well above the typical order — they simply aren’t coming back to do it again.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53721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marketing is not the highest-leverage option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56235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45%-of-customers segment is identifiable enough to target directly, rather than running broad, undifferentiated campaigns.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to Action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ApexPlanet should do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B68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482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874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targeted win-back initiative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4231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specifically at the High-Value One-Timer segment — e.g. a time-limited second-purchase incentive sent shortly after the first order.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EB683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0482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1874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repeat rate within this segment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178040" y="24231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the key success metric for the initiative, not just the overall repeat-purchase rate.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" y="3977640"/>
            <a:ext cx="548640" cy="548640"/>
          </a:xfrm>
          <a:prstGeom prst="ellipse">
            <a:avLst/>
          </a:prstGeom>
          <a:solidFill>
            <a:srgbClr val="EB683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0565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931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dashboard as a living source of truth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4805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one-time report — it updates as new orders arrive and lets any stakeholder filter to this segment directly.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EB683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10565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8040" y="3931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the segmentation quarterly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178040" y="44805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repeat-rate figure is based on a relatively short, single-year window.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exPlanet Midnight Executive">
  <a:themeElements>
    <a:clrScheme name="ApexPlanet Midnight Executive">
      <a:dk1>
        <a:srgbClr val="0B0B0B"/>
      </a:dk1>
      <a:lt1>
        <a:srgbClr val="FFFFFF"/>
      </a:lt1>
      <a:dk2>
        <a:srgbClr val="1E2761"/>
      </a:dk2>
      <a:lt2>
        <a:srgbClr val="CADCFC"/>
      </a:lt2>
      <a:accent1>
        <a:srgbClr val="EB6834"/>
      </a:accent1>
      <a:accent2>
        <a:srgbClr val="1BAF7A"/>
      </a:accent2>
      <a:accent3>
        <a:srgbClr val="E87BA4"/>
      </a:accent3>
      <a:accent4>
        <a:srgbClr val="EDA100"/>
      </a:accent4>
      <a:accent5>
        <a:srgbClr val="2A78D6"/>
      </a:accent5>
      <a:accent6>
        <a:srgbClr val="6250D6"/>
      </a:accent6>
      <a:hlink>
        <a:srgbClr val="2A78D6"/>
      </a:hlink>
      <a:folHlink>
        <a:srgbClr val="6250D6"/>
      </a:folHlink>
    </a:clrScheme>
    <a:fontScheme name="ApexPlanet Midnight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2026-10-24T13:29:45Z</dcterms:created>
  <dcterms:modified xsi:type="dcterms:W3CDTF">2026-10-24T13:29:45Z</dcterms:modified>
</cp:coreProperties>
</file>